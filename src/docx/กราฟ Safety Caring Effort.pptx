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5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&#3591;&#3634;&#3609;&#3648;&#3588;&#3619;&#3639;&#3656;&#3629;&#3591;&#3648;&#3585;&#3656;&#3634;\Precast\1-RMC-CPAC\Safety%20Effort\2%20&#3607;&#3635;%20Report%20&#3619;&#3634;&#3618;&#3648;&#3604;&#3639;&#3629;&#3609;\March-26\&#3652;&#3615;&#3621;&#3660;&#3607;&#3635;&#3585;&#3619;&#3634;&#3615;%20Safety%20Line%20Walk-Mar%2026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&#3591;&#3634;&#3609;&#3648;&#3588;&#3619;&#3639;&#3656;&#3629;&#3591;&#3648;&#3585;&#3656;&#3634;\Precast\1-RMC-CPAC\Safety%20Effort\2%20&#3607;&#3635;%20Report%20&#3619;&#3634;&#3618;&#3648;&#3604;&#3639;&#3629;&#3609;\March-26\&#3652;&#3615;&#3621;&#3660;&#3607;&#3635;&#3585;&#3619;&#3634;&#3615;%20Safety%20Line%20Walk-Mar%2026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D:\&#3591;&#3634;&#3609;&#3648;&#3588;&#3619;&#3639;&#3656;&#3629;&#3591;&#3648;&#3585;&#3656;&#3634;\Precast\1-RMC-CPAC\Safety%20Effort\2%20&#3607;&#3635;%20Report%20&#3619;&#3634;&#3618;&#3648;&#3604;&#3639;&#3629;&#3609;\March-26\&#3652;&#3615;&#3621;&#3660;&#3607;&#3635;&#3585;&#3619;&#3634;&#3615;%20Safety%20Line%20Walk-Mar%2026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D:\&#3591;&#3634;&#3609;&#3648;&#3588;&#3619;&#3639;&#3656;&#3629;&#3591;&#3648;&#3585;&#3656;&#3634;\Precast\1-RMC-CPAC\Safety%20Effort\2%20&#3607;&#3635;%20Report%20&#3619;&#3634;&#3618;&#3648;&#3604;&#3639;&#3629;&#3609;\March-26\&#3652;&#3615;&#3621;&#3660;&#3607;&#3635;&#3585;&#3619;&#3634;&#3615;%20Safety%20Line%20Walk-Mar%20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th-TH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ภาพรวม</a:t>
            </a:r>
            <a:r>
              <a:rPr lang="th-TH" b="1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walk </a:t>
            </a:r>
            <a:endPara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80C-4A88-938C-64515C3815B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80C-4A88-938C-64515C3815BC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80C-4A88-938C-64515C3815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ทำกราฟ!$G$26:$G$28</c:f>
              <c:strCache>
                <c:ptCount val="3"/>
                <c:pt idx="0">
                  <c:v>Office</c:v>
                </c:pt>
                <c:pt idx="1">
                  <c:v>Plant</c:v>
                </c:pt>
                <c:pt idx="2">
                  <c:v>Site</c:v>
                </c:pt>
              </c:strCache>
            </c:strRef>
          </c:cat>
          <c:val>
            <c:numRef>
              <c:f>ทำกราฟ!$I$26:$I$28</c:f>
              <c:numCache>
                <c:formatCode>0.0%</c:formatCode>
                <c:ptCount val="3"/>
                <c:pt idx="0">
                  <c:v>0.11779497098646034</c:v>
                </c:pt>
                <c:pt idx="1">
                  <c:v>0.82625725338491296</c:v>
                </c:pt>
                <c:pt idx="2">
                  <c:v>5.5947775628626691E-2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0C-4A88-938C-64515C381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Status Line walk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ทำกราฟ!$H$32</c:f>
              <c:strCache>
                <c:ptCount val="1"/>
                <c:pt idx="0">
                  <c:v>Safe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ทำกราฟ!$G$33:$G$35</c:f>
              <c:strCache>
                <c:ptCount val="3"/>
                <c:pt idx="0">
                  <c:v>Plant</c:v>
                </c:pt>
                <c:pt idx="1">
                  <c:v>Office</c:v>
                </c:pt>
                <c:pt idx="2">
                  <c:v>Site</c:v>
                </c:pt>
              </c:strCache>
            </c:strRef>
          </c:cat>
          <c:val>
            <c:numRef>
              <c:f>ทำกราฟ!$H$33:$H$35</c:f>
              <c:numCache>
                <c:formatCode>General</c:formatCode>
                <c:ptCount val="3"/>
                <c:pt idx="0">
                  <c:v>16618</c:v>
                </c:pt>
                <c:pt idx="1">
                  <c:v>2413</c:v>
                </c:pt>
                <c:pt idx="2">
                  <c:v>1112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F6-42D7-BF27-E6A40ED7259D}"/>
            </c:ext>
          </c:extLst>
        </c:ser>
        <c:ser>
          <c:idx val="1"/>
          <c:order val="1"/>
          <c:tx>
            <c:strRef>
              <c:f>ทำกราฟ!$I$32</c:f>
              <c:strCache>
                <c:ptCount val="1"/>
                <c:pt idx="0">
                  <c:v>Unsafe Act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ทำกราฟ!$G$33:$G$35</c:f>
              <c:strCache>
                <c:ptCount val="3"/>
                <c:pt idx="0">
                  <c:v>Plant</c:v>
                </c:pt>
                <c:pt idx="1">
                  <c:v>Office</c:v>
                </c:pt>
                <c:pt idx="2">
                  <c:v>Site</c:v>
                </c:pt>
              </c:strCache>
            </c:strRef>
          </c:cat>
          <c:val>
            <c:numRef>
              <c:f>ทำกราฟ!$I$33:$I$35</c:f>
              <c:numCache>
                <c:formatCode>General</c:formatCode>
                <c:ptCount val="3"/>
                <c:pt idx="0">
                  <c:v>44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F6-42D7-BF27-E6A40ED7259D}"/>
            </c:ext>
          </c:extLst>
        </c:ser>
        <c:ser>
          <c:idx val="2"/>
          <c:order val="2"/>
          <c:tx>
            <c:strRef>
              <c:f>ทำกราฟ!$J$32</c:f>
              <c:strCache>
                <c:ptCount val="1"/>
                <c:pt idx="0">
                  <c:v>Unsafe Condition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5839793281653748E-3"/>
                  <c:y val="-5.39811066126855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AF6-42D7-BF27-E6A40ED7259D}"/>
                </c:ext>
              </c:extLst>
            </c:dLbl>
            <c:dLbl>
              <c:idx val="2"/>
              <c:layout>
                <c:manualLayout>
                  <c:x val="0"/>
                  <c:y val="-3.77867746288798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F6-42D7-BF27-E6A40ED725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ทำกราฟ!$G$33:$G$35</c:f>
              <c:strCache>
                <c:ptCount val="3"/>
                <c:pt idx="0">
                  <c:v>Plant</c:v>
                </c:pt>
                <c:pt idx="1">
                  <c:v>Office</c:v>
                </c:pt>
                <c:pt idx="2">
                  <c:v>Site</c:v>
                </c:pt>
              </c:strCache>
            </c:strRef>
          </c:cat>
          <c:val>
            <c:numRef>
              <c:f>ทำกราฟ!$J$33:$J$35</c:f>
              <c:numCache>
                <c:formatCode>General</c:formatCode>
                <c:ptCount val="3"/>
                <c:pt idx="0">
                  <c:v>425</c:v>
                </c:pt>
                <c:pt idx="1">
                  <c:v>19</c:v>
                </c:pt>
                <c:pt idx="2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F6-42D7-BF27-E6A40ED72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712991"/>
        <c:axId val="1618690559"/>
      </c:barChart>
      <c:catAx>
        <c:axId val="771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690559"/>
        <c:crosses val="autoZero"/>
        <c:auto val="1"/>
        <c:lblAlgn val="ctr"/>
        <c:lblOffset val="100"/>
        <c:noMultiLvlLbl val="0"/>
      </c:catAx>
      <c:valAx>
        <c:axId val="16186905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12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CG" panose="02000503000000020004" pitchFamily="50" charset="-34"/>
                <a:ea typeface="+mn-ea"/>
                <a:cs typeface="SCG" panose="02000503000000020004" pitchFamily="50" charset="-34"/>
              </a:defRPr>
            </a:pPr>
            <a:r>
              <a:rPr lang="th-TH" sz="1200" b="1">
                <a:latin typeface="SCG" panose="02000503000000020004" pitchFamily="50" charset="-34"/>
                <a:cs typeface="SCG" panose="02000503000000020004" pitchFamily="50" charset="-34"/>
              </a:rPr>
              <a:t>สถานะการแก้ไข</a:t>
            </a:r>
            <a:endParaRPr lang="en-US" sz="1200" b="1">
              <a:latin typeface="SCG" panose="02000503000000020004" pitchFamily="50" charset="-34"/>
              <a:cs typeface="SCG" panose="02000503000000020004" pitchFamily="50" charset="-34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CG" panose="02000503000000020004" pitchFamily="50" charset="-34"/>
              <a:ea typeface="+mn-ea"/>
              <a:cs typeface="SCG" panose="02000503000000020004" pitchFamily="50" charset="-34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F1-44E8-A1E7-343F5A7302D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F1-44E8-A1E7-343F5A7302D8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F1-44E8-A1E7-343F5A7302D8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F1-44E8-A1E7-343F5A7302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ทำกราฟ!$K$45:$K$46</c:f>
              <c:strCache>
                <c:ptCount val="2"/>
                <c:pt idx="0">
                  <c:v>Success</c:v>
                </c:pt>
                <c:pt idx="1">
                  <c:v>Pending </c:v>
                </c:pt>
              </c:strCache>
            </c:strRef>
          </c:cat>
          <c:val>
            <c:numRef>
              <c:f>ทำกราฟ!$L$45:$L$46</c:f>
              <c:numCache>
                <c:formatCode>0.00%</c:formatCode>
                <c:ptCount val="2"/>
                <c:pt idx="0">
                  <c:v>0.84210526315789469</c:v>
                </c:pt>
                <c:pt idx="1">
                  <c:v>0.14035087719298245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F1-44E8-A1E7-343F5A730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  <a:r>
              <a:rPr lang="en-US" b="1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Line walk</a:t>
            </a:r>
            <a:endPara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9739793629430239E-2"/>
          <c:y val="0.18159362155202297"/>
          <c:w val="0.98026020637056976"/>
          <c:h val="0.69980863945791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ทำกราฟ!$D$26</c:f>
              <c:strCache>
                <c:ptCount val="1"/>
                <c:pt idx="0">
                  <c:v>Safe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ทำกราฟ!$A$27:$A$33</c:f>
              <c:strCache>
                <c:ptCount val="7"/>
                <c:pt idx="0">
                  <c:v>CPAC Metro</c:v>
                </c:pt>
                <c:pt idx="1">
                  <c:v>CPAC East</c:v>
                </c:pt>
                <c:pt idx="2">
                  <c:v>CPAC West</c:v>
                </c:pt>
                <c:pt idx="3">
                  <c:v>CPAC North</c:v>
                </c:pt>
                <c:pt idx="4">
                  <c:v>CPAC Northeast</c:v>
                </c:pt>
                <c:pt idx="5">
                  <c:v>RMC - South Chain</c:v>
                </c:pt>
                <c:pt idx="6">
                  <c:v>SMART Structure</c:v>
                </c:pt>
              </c:strCache>
            </c:strRef>
          </c:cat>
          <c:val>
            <c:numRef>
              <c:f>ทำกราฟ!$D$27:$D$33</c:f>
              <c:numCache>
                <c:formatCode>General</c:formatCode>
                <c:ptCount val="7"/>
                <c:pt idx="0">
                  <c:v>1308</c:v>
                </c:pt>
                <c:pt idx="1">
                  <c:v>2629</c:v>
                </c:pt>
                <c:pt idx="2">
                  <c:v>3253</c:v>
                </c:pt>
                <c:pt idx="3">
                  <c:v>1768</c:v>
                </c:pt>
                <c:pt idx="4">
                  <c:v>4465</c:v>
                </c:pt>
                <c:pt idx="5">
                  <c:v>2077</c:v>
                </c:pt>
                <c:pt idx="6">
                  <c:v>1059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C-4F08-A0B6-48C8F12938D6}"/>
            </c:ext>
          </c:extLst>
        </c:ser>
        <c:ser>
          <c:idx val="1"/>
          <c:order val="1"/>
          <c:tx>
            <c:strRef>
              <c:f>ทำกราฟ!$E$26</c:f>
              <c:strCache>
                <c:ptCount val="1"/>
                <c:pt idx="0">
                  <c:v>Unsafe 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ทำกราฟ!$A$27:$A$33</c:f>
              <c:strCache>
                <c:ptCount val="7"/>
                <c:pt idx="0">
                  <c:v>CPAC Metro</c:v>
                </c:pt>
                <c:pt idx="1">
                  <c:v>CPAC East</c:v>
                </c:pt>
                <c:pt idx="2">
                  <c:v>CPAC West</c:v>
                </c:pt>
                <c:pt idx="3">
                  <c:v>CPAC North</c:v>
                </c:pt>
                <c:pt idx="4">
                  <c:v>CPAC Northeast</c:v>
                </c:pt>
                <c:pt idx="5">
                  <c:v>RMC - South Chain</c:v>
                </c:pt>
                <c:pt idx="6">
                  <c:v>SMART Structure</c:v>
                </c:pt>
              </c:strCache>
            </c:strRef>
          </c:cat>
          <c:val>
            <c:numRef>
              <c:f>ทำกราฟ!$E$27:$E$33</c:f>
              <c:numCache>
                <c:formatCode>General</c:formatCode>
                <c:ptCount val="7"/>
                <c:pt idx="0">
                  <c:v>29</c:v>
                </c:pt>
                <c:pt idx="1">
                  <c:v>30</c:v>
                </c:pt>
                <c:pt idx="2">
                  <c:v>1</c:v>
                </c:pt>
                <c:pt idx="3">
                  <c:v>73</c:v>
                </c:pt>
                <c:pt idx="4">
                  <c:v>219</c:v>
                </c:pt>
                <c:pt idx="5">
                  <c:v>74</c:v>
                </c:pt>
                <c:pt idx="6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4C-4F08-A0B6-48C8F12938D6}"/>
            </c:ext>
          </c:extLst>
        </c:ser>
        <c:ser>
          <c:idx val="2"/>
          <c:order val="2"/>
          <c:tx>
            <c:strRef>
              <c:f>ทำกราฟ!$F$26</c:f>
              <c:strCache>
                <c:ptCount val="1"/>
                <c:pt idx="0">
                  <c:v>สถานะแก้ไข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ทำกราฟ!$A$27:$A$33</c:f>
              <c:strCache>
                <c:ptCount val="7"/>
                <c:pt idx="0">
                  <c:v>CPAC Metro</c:v>
                </c:pt>
                <c:pt idx="1">
                  <c:v>CPAC East</c:v>
                </c:pt>
                <c:pt idx="2">
                  <c:v>CPAC West</c:v>
                </c:pt>
                <c:pt idx="3">
                  <c:v>CPAC North</c:v>
                </c:pt>
                <c:pt idx="4">
                  <c:v>CPAC Northeast</c:v>
                </c:pt>
                <c:pt idx="5">
                  <c:v>RMC - South Chain</c:v>
                </c:pt>
                <c:pt idx="6">
                  <c:v>SMART Structure</c:v>
                </c:pt>
              </c:strCache>
            </c:strRef>
          </c:cat>
          <c:val>
            <c:numRef>
              <c:f>ทำกราฟ!$F$27:$F$33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14</c:v>
                </c:pt>
                <c:pt idx="5">
                  <c:v>7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4C-4F08-A0B6-48C8F1293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95686671"/>
        <c:axId val="1963333631"/>
      </c:barChart>
      <c:catAx>
        <c:axId val="199568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3333631"/>
        <c:crosses val="autoZero"/>
        <c:auto val="1"/>
        <c:lblAlgn val="ctr"/>
        <c:lblOffset val="100"/>
        <c:noMultiLvlLbl val="0"/>
      </c:catAx>
      <c:valAx>
        <c:axId val="19633336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95686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032562662734878"/>
          <c:y val="0.12008522464103752"/>
          <c:w val="0.19624954251236526"/>
          <c:h val="0.197650970919471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32AF-39B2-49C0-902E-E489DB8D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BA242-4DFB-49A4-B2A0-CC7FD0299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E26D6-5675-435D-B169-FEC10A96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BFDBE-4FFE-4FE0-BAF4-F7A0602C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F57D7-F301-4605-A6BD-ADA496A0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5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49BC-7D21-463D-8F73-D3AE50E7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1E26-BF6B-445F-9778-EE9309B1A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6E43B-ED1D-45A4-A9E0-29EEAB34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4165B-4065-414F-BE26-79DC2843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F0548-A625-4547-AAE4-81F6BB7B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8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2C00-30FB-4A6A-9126-BDC69C258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97117-4026-42CB-8B99-DCCEB455C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03B70-09F7-4D7E-8F25-0B4B288B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58159-6029-41BF-8E48-28EB758A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0C13-48A3-4F20-8FB9-751A792E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B7DF-A2F5-4234-94A5-AEC6DF6D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EACF5-CCBC-46A5-BDBB-FC649FEAA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B0D80-4209-4C4B-933E-BD3B7C19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025BF-C469-4C2D-8785-208A5A7A9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BDA07-9B6A-445E-B828-7B846DBC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2FAEA-96A9-40E7-ADF3-1E1ECE09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5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AB50-9C83-457C-A24F-514C8D8F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FE979-6A85-4D3D-9F29-A797A68AE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EBA95-23BC-4975-8E57-03D31F29D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6C433-59F1-4851-81E5-BCC89FFF0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B2BB6-62AB-4466-A0A8-DC6333188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B9155-16BF-4BF6-ABA6-71FF69FF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6E999-5733-4EEE-B48A-F78ED580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87C3A-52B0-4C13-B063-849620B5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6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D6F1-F19E-4BCF-BB43-5336ADC0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3ADC2-AE9B-4CDE-A6E2-D424FEBC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17415-9ED6-4AAC-8807-9BBD30A7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96325-B2DF-4355-9F35-E4B11D2E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8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DAE25-8010-4413-A079-A222CF233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9599F-A034-416E-8BF2-ED764EDE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4CA07-1048-4E1F-9C83-CE08F314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6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3F5F-53B9-409A-BC3B-EA052199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4C3B-BAA2-4ECB-9095-C7484D03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8801F-72A1-4718-98ED-D394DFD72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D99C7-5626-487D-A87B-B08F9BD2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22B51-0F33-4CB6-9C3D-7291DC97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DA2BC-A2D5-46C0-B0F0-A8267C24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4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09F3-C9CD-4884-A485-89B05835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7F5B1-D3AB-459F-99E2-67C874C51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0EC87-C483-4AAB-918F-D3F90EC87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2209A-1DE6-46F4-938C-3F1DAF99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37AFB-948C-41F5-B992-98690976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1E954-9BD3-486D-B086-2B05C642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5AE0-9F0E-4726-B3CC-07AA20BF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13954-4BE8-4932-B335-D3F96339E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7EE0-A4ED-4774-B63C-FE0C8F96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9FC3-3E02-4DCF-B7AA-5F194663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9890E-F2C9-4E29-A046-54455840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9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26CE0-4275-4FD1-AB7B-FD306EEAF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1FC42-560F-418E-AE15-BE6C7911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501F4-C422-4F83-A6EC-983C38D9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6415-9B37-4C57-A7D5-058D9AC0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32269-6189-444B-AA2C-6C58E74F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99AB99-FFEB-4BF1-87DA-23BB9670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F117C-7168-4501-8AC7-23B437122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366E-BE43-4724-80B6-C480AABE5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7FF64-B42E-4880-A97F-DB8A06DF3497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CE6-4F25-4C62-8C11-DCBB72E7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F6146-9A52-4C60-AAEA-7ED319299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1FE7C-7BF4-4B53-84D1-E00DA0B53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7D1F97-56B2-4A17-9969-B3394452322D}"/>
              </a:ext>
            </a:extLst>
          </p:cNvPr>
          <p:cNvSpPr/>
          <p:nvPr/>
        </p:nvSpPr>
        <p:spPr>
          <a:xfrm>
            <a:off x="0" y="17654"/>
            <a:ext cx="12191999" cy="4001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walk  report  Oct 25– Mar 2026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120492A-96C0-4249-9975-7038320654C2}"/>
              </a:ext>
            </a:extLst>
          </p:cNvPr>
          <p:cNvGraphicFramePr>
            <a:graphicFrameLocks/>
          </p:cNvGraphicFramePr>
          <p:nvPr/>
        </p:nvGraphicFramePr>
        <p:xfrm>
          <a:off x="393583" y="613246"/>
          <a:ext cx="4328047" cy="2815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3EB27C9-7FC9-4A93-81EA-C238A48B9BC9}"/>
              </a:ext>
            </a:extLst>
          </p:cNvPr>
          <p:cNvGraphicFramePr>
            <a:graphicFrameLocks/>
          </p:cNvGraphicFramePr>
          <p:nvPr/>
        </p:nvGraphicFramePr>
        <p:xfrm>
          <a:off x="4904508" y="613246"/>
          <a:ext cx="6625245" cy="2815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96E503F-795C-4188-8A6E-8904CF16714E}"/>
              </a:ext>
            </a:extLst>
          </p:cNvPr>
          <p:cNvGraphicFramePr>
            <a:graphicFrameLocks/>
          </p:cNvGraphicFramePr>
          <p:nvPr/>
        </p:nvGraphicFramePr>
        <p:xfrm>
          <a:off x="393583" y="3788265"/>
          <a:ext cx="4328047" cy="2993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B1A29A3-8F53-4E90-A661-F73DB1BA6518}"/>
              </a:ext>
            </a:extLst>
          </p:cNvPr>
          <p:cNvGraphicFramePr>
            <a:graphicFrameLocks/>
          </p:cNvGraphicFramePr>
          <p:nvPr/>
        </p:nvGraphicFramePr>
        <p:xfrm>
          <a:off x="4904507" y="3788265"/>
          <a:ext cx="6625246" cy="2993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SCG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Supachai Nalerng</dc:creator>
  <cp:lastModifiedBy>Supachai Nalerng</cp:lastModifiedBy>
  <cp:revision>1</cp:revision>
  <dcterms:created xsi:type="dcterms:W3CDTF">2026-05-15T04:07:26Z</dcterms:created>
  <dcterms:modified xsi:type="dcterms:W3CDTF">2026-05-15T04:08:22Z</dcterms:modified>
</cp:coreProperties>
</file>